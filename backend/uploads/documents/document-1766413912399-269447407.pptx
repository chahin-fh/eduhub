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81" r:id="rId2"/>
    <p:sldId id="282" r:id="rId3"/>
    <p:sldId id="283" r:id="rId4"/>
    <p:sldId id="285" r:id="rId5"/>
    <p:sldId id="284" r:id="rId6"/>
    <p:sldId id="286" r:id="rId7"/>
    <p:sldId id="287" r:id="rId8"/>
    <p:sldId id="288" r:id="rId9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B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2" autoAdjust="0"/>
    <p:restoredTop sz="96057" autoAdjust="0"/>
  </p:normalViewPr>
  <p:slideViewPr>
    <p:cSldViewPr>
      <p:cViewPr varScale="1">
        <p:scale>
          <a:sx n="69" d="100"/>
          <a:sy n="69" d="100"/>
        </p:scale>
        <p:origin x="159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93429-00F5-4EE6-81E4-73E9082BD0B6}" type="datetimeFigureOut">
              <a:rPr lang="fr-FR" smtClean="0"/>
              <a:pPr/>
              <a:t>24/12/2022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1D70EE-E1AE-4F69-BA3F-DDF187B27E73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https://python.iutsf.org/lecon-6-les-fichiers/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D70EE-E1AE-4F69-BA3F-DDF187B27E73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https://developpement-informatique.com/article/99/exercices-corriges-python-serie-10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D70EE-E1AE-4F69-BA3F-DDF187B27E73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/>
              <a:t>https://developpement-informatique.com/article/99/exercices-corriges-python-serie-10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D70EE-E1AE-4F69-BA3F-DDF187B27E73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https://python.iutsf.org/lecon-6-les-fichiers/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D70EE-E1AE-4F69-BA3F-DDF187B27E73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https://developpement-informatique.com/article/99/exercices-corriges-python-serie-10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D70EE-E1AE-4F69-BA3F-DDF187B27E73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https://developpement-informatique.com/article/99/exercices-corriges-python-serie-10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D70EE-E1AE-4F69-BA3F-DDF187B27E73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https://developpement-informatique.com/article/99/exercices-corriges-python-serie-10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D70EE-E1AE-4F69-BA3F-DDF187B27E73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https://developpement-informatique.com/article/99/exercices-corriges-python-serie-10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D70EE-E1AE-4F69-BA3F-DDF187B27E73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pc="50"/>
              <a:t>Yosra ZGUIRA</a:t>
            </a:r>
            <a:endParaRPr spc="-10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4FCE9-CED7-47F8-BD69-7A3AB7CBDE96}" type="datetime1">
              <a:rPr lang="en-US" smtClean="0"/>
              <a:pPr/>
              <a:t>12/24/2022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64652"/>
                </a:solidFill>
                <a:latin typeface="TeX Gyre Bonum"/>
                <a:cs typeface="TeX Gyre Bon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pc="50"/>
              <a:t>Yosra ZGUIRA</a:t>
            </a:r>
            <a:endParaRPr spc="-10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36250-4643-471C-ABF4-C827234D26AC}" type="datetime1">
              <a:rPr lang="en-US" smtClean="0"/>
              <a:pPr/>
              <a:t>12/24/2022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64652"/>
                </a:solidFill>
                <a:latin typeface="TeX Gyre Bonum"/>
                <a:cs typeface="TeX Gyre Bon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940" y="1162557"/>
            <a:ext cx="3441065" cy="3881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9FB8C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pc="50"/>
              <a:t>Yosra ZGUIRA</a:t>
            </a:r>
            <a:endParaRPr spc="-10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2BCC4-8EB7-4FE0-AA62-128C704BB425}" type="datetime1">
              <a:rPr lang="en-US" smtClean="0"/>
              <a:pPr/>
              <a:t>12/24/2022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64652"/>
                </a:solidFill>
                <a:latin typeface="TeX Gyre Bonum"/>
                <a:cs typeface="TeX Gyre Bon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pc="50"/>
              <a:t>Yosra ZGUIRA</a:t>
            </a:r>
            <a:endParaRPr spc="-10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43B98-34FA-4280-9D09-98765369C306}" type="datetime1">
              <a:rPr lang="en-US" smtClean="0"/>
              <a:pPr/>
              <a:t>12/24/2022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05255" y="3648455"/>
            <a:ext cx="7315200" cy="1278890"/>
          </a:xfrm>
          <a:custGeom>
            <a:avLst/>
            <a:gdLst/>
            <a:ahLst/>
            <a:cxnLst/>
            <a:rect l="l" t="t" r="r" b="b"/>
            <a:pathLst>
              <a:path w="7315200" h="1278889">
                <a:moveTo>
                  <a:pt x="0" y="1278636"/>
                </a:moveTo>
                <a:lnTo>
                  <a:pt x="7315200" y="1278636"/>
                </a:lnTo>
                <a:lnTo>
                  <a:pt x="7315200" y="0"/>
                </a:lnTo>
                <a:lnTo>
                  <a:pt x="0" y="0"/>
                </a:lnTo>
                <a:lnTo>
                  <a:pt x="0" y="1278636"/>
                </a:lnTo>
                <a:close/>
              </a:path>
            </a:pathLst>
          </a:custGeom>
          <a:ln w="6096">
            <a:solidFill>
              <a:srgbClr val="717B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4400" y="5049011"/>
            <a:ext cx="7315200" cy="685800"/>
          </a:xfrm>
          <a:custGeom>
            <a:avLst/>
            <a:gdLst/>
            <a:ahLst/>
            <a:cxnLst/>
            <a:rect l="l" t="t" r="r" b="b"/>
            <a:pathLst>
              <a:path w="7315200" h="685800">
                <a:moveTo>
                  <a:pt x="0" y="685800"/>
                </a:moveTo>
                <a:lnTo>
                  <a:pt x="7315200" y="685800"/>
                </a:lnTo>
                <a:lnTo>
                  <a:pt x="73152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6096">
            <a:solidFill>
              <a:srgbClr val="9FB8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05255" y="3648455"/>
            <a:ext cx="228600" cy="1278890"/>
          </a:xfrm>
          <a:custGeom>
            <a:avLst/>
            <a:gdLst/>
            <a:ahLst/>
            <a:cxnLst/>
            <a:rect l="l" t="t" r="r" b="b"/>
            <a:pathLst>
              <a:path w="228600" h="1278889">
                <a:moveTo>
                  <a:pt x="228600" y="0"/>
                </a:moveTo>
                <a:lnTo>
                  <a:pt x="0" y="0"/>
                </a:lnTo>
                <a:lnTo>
                  <a:pt x="0" y="1278636"/>
                </a:lnTo>
                <a:lnTo>
                  <a:pt x="228600" y="1278636"/>
                </a:lnTo>
                <a:lnTo>
                  <a:pt x="228600" y="0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14400" y="5049011"/>
            <a:ext cx="228600" cy="685800"/>
          </a:xfrm>
          <a:custGeom>
            <a:avLst/>
            <a:gdLst/>
            <a:ahLst/>
            <a:cxnLst/>
            <a:rect l="l" t="t" r="r" b="b"/>
            <a:pathLst>
              <a:path w="228600" h="685800">
                <a:moveTo>
                  <a:pt x="228600" y="0"/>
                </a:moveTo>
                <a:lnTo>
                  <a:pt x="0" y="0"/>
                </a:lnTo>
                <a:lnTo>
                  <a:pt x="0" y="685800"/>
                </a:lnTo>
                <a:lnTo>
                  <a:pt x="228600" y="685800"/>
                </a:lnTo>
                <a:lnTo>
                  <a:pt x="22860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pc="50"/>
              <a:t>Yosra ZGUIRA</a:t>
            </a:r>
            <a:endParaRPr spc="-10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2F8C8-B88B-414B-AEF1-30438A02D2A3}" type="datetime1">
              <a:rPr lang="en-US" smtClean="0"/>
              <a:pPr/>
              <a:t>12/24/2022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5965" y="642873"/>
            <a:ext cx="789178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64652"/>
                </a:solidFill>
                <a:latin typeface="TeX Gyre Bonum"/>
                <a:cs typeface="TeX Gyre Bon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068688"/>
            <a:ext cx="8279130" cy="448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55133" y="6395847"/>
            <a:ext cx="1069339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pc="50"/>
              <a:t>Yosra ZGUIRA</a:t>
            </a:r>
            <a:endParaRPr spc="-10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C5E2-9D5C-4106-9635-94E2C9306DF4}" type="datetime1">
              <a:rPr lang="en-US" smtClean="0"/>
              <a:pPr/>
              <a:t>12/24/2022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6292" y="6395847"/>
            <a:ext cx="256540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‹#›</a:t>
            </a:fld>
            <a:endParaRPr spc="-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182" y="2619882"/>
            <a:ext cx="739584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363" marR="5080" indent="-360363" algn="ctr">
              <a:lnSpc>
                <a:spcPct val="100000"/>
              </a:lnSpc>
              <a:spcBef>
                <a:spcPts val="95"/>
              </a:spcBef>
            </a:pPr>
            <a:r>
              <a:rPr lang="fr-FR" sz="4000" spc="-10" dirty="0">
                <a:solidFill>
                  <a:srgbClr val="006FC0"/>
                </a:solidFill>
              </a:rPr>
              <a:t>Exercice 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1</a:t>
            </a:fld>
            <a:endParaRPr spc="-3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255133" y="6395847"/>
            <a:ext cx="1526667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pc="50" dirty="0"/>
              <a:t>Marwa </a:t>
            </a:r>
            <a:r>
              <a:rPr lang="fr-FR" spc="50" dirty="0" err="1"/>
              <a:t>Jabberi</a:t>
            </a:r>
            <a:endParaRPr spc="-10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95986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3200" spc="-5" dirty="0"/>
              <a:t>Exercice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2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14016"/>
            <a:ext cx="8180705" cy="5021888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85115" indent="-273050" algn="just">
              <a:spcBef>
                <a:spcPts val="600"/>
              </a:spcBef>
              <a:buClr>
                <a:srgbClr val="717BA2"/>
              </a:buClr>
              <a:buSzPct val="75000"/>
              <a:buFont typeface="Arial"/>
              <a:buChar char=""/>
              <a:tabLst>
                <a:tab pos="285115" algn="l"/>
                <a:tab pos="285750" algn="l"/>
              </a:tabLst>
            </a:pPr>
            <a:r>
              <a:rPr lang="fr-FR" sz="2000" spc="-110" dirty="0">
                <a:latin typeface="Trebuchet MS"/>
                <a:cs typeface="Trebuchet MS"/>
              </a:rPr>
              <a:t>Soit un fichier intitulé </a:t>
            </a:r>
            <a:r>
              <a:rPr lang="fr-FR" sz="2000" b="1" spc="-110" dirty="0">
                <a:solidFill>
                  <a:srgbClr val="C00000"/>
                </a:solidFill>
                <a:latin typeface="Trebuchet MS"/>
                <a:cs typeface="Trebuchet MS"/>
              </a:rPr>
              <a:t>concours.txt</a:t>
            </a:r>
            <a:r>
              <a:rPr lang="fr-FR" sz="2000" spc="-110" dirty="0">
                <a:latin typeface="Trebuchet MS"/>
                <a:cs typeface="Trebuchet MS"/>
              </a:rPr>
              <a:t> qui comporte les enregistrements relatifs aux candidats d’un concours.</a:t>
            </a:r>
          </a:p>
          <a:p>
            <a:pPr marL="285115" indent="-273050" algn="just">
              <a:spcBef>
                <a:spcPts val="600"/>
              </a:spcBef>
              <a:buClr>
                <a:srgbClr val="717BA2"/>
              </a:buClr>
              <a:buSzPct val="75000"/>
              <a:buFont typeface="Arial"/>
              <a:buChar char=""/>
              <a:tabLst>
                <a:tab pos="285115" algn="l"/>
                <a:tab pos="285750" algn="l"/>
              </a:tabLst>
            </a:pPr>
            <a:endParaRPr lang="fr-FR" sz="2000" spc="-110" dirty="0">
              <a:latin typeface="Trebuchet MS"/>
              <a:cs typeface="Trebuchet MS"/>
            </a:endParaRPr>
          </a:p>
          <a:p>
            <a:pPr marL="285115" indent="-273050" algn="just">
              <a:spcBef>
                <a:spcPts val="600"/>
              </a:spcBef>
              <a:buClr>
                <a:srgbClr val="717BA2"/>
              </a:buClr>
              <a:buSzPct val="75000"/>
              <a:buFont typeface="Arial"/>
              <a:buChar char=""/>
              <a:tabLst>
                <a:tab pos="285115" algn="l"/>
                <a:tab pos="285750" algn="l"/>
              </a:tabLst>
            </a:pPr>
            <a:r>
              <a:rPr lang="fr-FR" sz="2000" spc="-110" dirty="0">
                <a:latin typeface="Trebuchet MS"/>
                <a:cs typeface="Trebuchet MS"/>
              </a:rPr>
              <a:t>Chaque enregistrement est composé de: </a:t>
            </a:r>
            <a:r>
              <a:rPr lang="fr-FR" sz="2000" b="1" spc="-110" dirty="0">
                <a:latin typeface="Trebuchet MS"/>
                <a:cs typeface="Trebuchet MS"/>
              </a:rPr>
              <a:t>NCIN</a:t>
            </a:r>
            <a:r>
              <a:rPr lang="fr-FR" sz="2000" spc="-110" dirty="0">
                <a:latin typeface="Trebuchet MS"/>
                <a:cs typeface="Trebuchet MS"/>
              </a:rPr>
              <a:t>, </a:t>
            </a:r>
            <a:r>
              <a:rPr lang="fr-FR" sz="2000" b="1" spc="-110" dirty="0">
                <a:latin typeface="Trebuchet MS"/>
                <a:cs typeface="Trebuchet MS"/>
              </a:rPr>
              <a:t>NOM</a:t>
            </a:r>
            <a:r>
              <a:rPr lang="fr-FR" sz="2000" spc="-110" dirty="0">
                <a:latin typeface="Trebuchet MS"/>
                <a:cs typeface="Trebuchet MS"/>
              </a:rPr>
              <a:t>, </a:t>
            </a:r>
            <a:r>
              <a:rPr lang="fr-FR" sz="2000" b="1" spc="-110" dirty="0">
                <a:latin typeface="Trebuchet MS"/>
                <a:cs typeface="Trebuchet MS"/>
              </a:rPr>
              <a:t>PRENOM</a:t>
            </a:r>
            <a:r>
              <a:rPr lang="fr-FR" sz="2000" spc="-110" dirty="0">
                <a:latin typeface="Trebuchet MS"/>
                <a:cs typeface="Trebuchet MS"/>
              </a:rPr>
              <a:t>, </a:t>
            </a:r>
            <a:r>
              <a:rPr lang="fr-FR" sz="2000" b="1" spc="-110" dirty="0">
                <a:latin typeface="Trebuchet MS"/>
                <a:cs typeface="Trebuchet MS"/>
              </a:rPr>
              <a:t>AGE</a:t>
            </a:r>
            <a:r>
              <a:rPr lang="fr-FR" sz="2000" spc="-110" dirty="0">
                <a:latin typeface="Trebuchet MS"/>
                <a:cs typeface="Trebuchet MS"/>
              </a:rPr>
              <a:t>, </a:t>
            </a:r>
            <a:r>
              <a:rPr lang="fr-FR" sz="2000" b="1" spc="-110" dirty="0">
                <a:latin typeface="Trebuchet MS"/>
                <a:cs typeface="Trebuchet MS"/>
              </a:rPr>
              <a:t>DECISION</a:t>
            </a:r>
            <a:r>
              <a:rPr lang="fr-FR" sz="2000" spc="-110" dirty="0">
                <a:latin typeface="Trebuchet MS"/>
                <a:cs typeface="Trebuchet MS"/>
              </a:rPr>
              <a:t> (contenant les identificateurs suivants: </a:t>
            </a:r>
            <a:r>
              <a:rPr lang="fr-FR" sz="2000" i="1" spc="-110" dirty="0">
                <a:solidFill>
                  <a:srgbClr val="717BA2"/>
                </a:solidFill>
                <a:latin typeface="Trebuchet MS"/>
                <a:cs typeface="Trebuchet MS"/>
              </a:rPr>
              <a:t>admis</a:t>
            </a:r>
            <a:r>
              <a:rPr lang="fr-FR" sz="2000" spc="-110" dirty="0">
                <a:latin typeface="Trebuchet MS"/>
                <a:cs typeface="Trebuchet MS"/>
              </a:rPr>
              <a:t>, </a:t>
            </a:r>
            <a:r>
              <a:rPr lang="fr-FR" sz="2000" i="1" spc="-110" dirty="0">
                <a:solidFill>
                  <a:srgbClr val="717BA2"/>
                </a:solidFill>
                <a:latin typeface="Trebuchet MS"/>
                <a:cs typeface="Trebuchet MS"/>
              </a:rPr>
              <a:t>refusé</a:t>
            </a:r>
            <a:r>
              <a:rPr lang="fr-FR" sz="2000" spc="-110" dirty="0">
                <a:latin typeface="Trebuchet MS"/>
                <a:cs typeface="Trebuchet MS"/>
              </a:rPr>
              <a:t>, </a:t>
            </a:r>
            <a:r>
              <a:rPr lang="fr-FR" sz="2000" i="1" spc="-110" dirty="0">
                <a:solidFill>
                  <a:srgbClr val="717BA2"/>
                </a:solidFill>
                <a:latin typeface="Trebuchet MS"/>
                <a:cs typeface="Trebuchet MS"/>
              </a:rPr>
              <a:t>ajourné</a:t>
            </a:r>
            <a:r>
              <a:rPr lang="fr-FR" sz="2000" spc="-110" dirty="0">
                <a:latin typeface="Trebuchet MS"/>
                <a:cs typeface="Trebuchet MS"/>
              </a:rPr>
              <a:t>) et séparé par point virgule (;).</a:t>
            </a:r>
          </a:p>
          <a:p>
            <a:pPr marL="285115" indent="-273050" algn="just">
              <a:spcBef>
                <a:spcPts val="600"/>
              </a:spcBef>
              <a:buClr>
                <a:srgbClr val="717BA2"/>
              </a:buClr>
              <a:buSzPct val="75000"/>
              <a:buFont typeface="Arial"/>
              <a:buChar char=""/>
              <a:tabLst>
                <a:tab pos="285115" algn="l"/>
                <a:tab pos="285750" algn="l"/>
              </a:tabLst>
            </a:pPr>
            <a:endParaRPr lang="fr-FR" sz="2000" b="1" u="sng" spc="-110" dirty="0">
              <a:latin typeface="Trebuchet MS"/>
              <a:cs typeface="Trebuchet MS"/>
            </a:endParaRPr>
          </a:p>
          <a:p>
            <a:pPr marL="285115" indent="-273050" algn="just">
              <a:spcBef>
                <a:spcPts val="600"/>
              </a:spcBef>
              <a:buClr>
                <a:srgbClr val="717BA2"/>
              </a:buClr>
              <a:buSzPct val="75000"/>
              <a:buFont typeface="Arial"/>
              <a:buChar char=""/>
              <a:tabLst>
                <a:tab pos="285115" algn="l"/>
                <a:tab pos="285750" algn="l"/>
              </a:tabLst>
            </a:pPr>
            <a:r>
              <a:rPr lang="fr-FR" sz="2000" b="1" u="sng" spc="-110" dirty="0">
                <a:latin typeface="Trebuchet MS"/>
                <a:cs typeface="Trebuchet MS"/>
              </a:rPr>
              <a:t>Travail demandé:</a:t>
            </a:r>
          </a:p>
          <a:p>
            <a:pPr marL="285115" indent="-273050" algn="just">
              <a:spcBef>
                <a:spcPts val="600"/>
              </a:spcBef>
              <a:buClr>
                <a:srgbClr val="717BA2"/>
              </a:buClr>
              <a:buSzPct val="75000"/>
              <a:buFont typeface="Arial"/>
              <a:buChar char=""/>
              <a:tabLst>
                <a:tab pos="285115" algn="l"/>
                <a:tab pos="285750" algn="l"/>
              </a:tabLst>
            </a:pPr>
            <a:endParaRPr lang="fr-FR" sz="2000" spc="-110" dirty="0">
              <a:latin typeface="Trebuchet MS"/>
              <a:cs typeface="Trebuchet MS"/>
            </a:endParaRPr>
          </a:p>
          <a:p>
            <a:pPr marL="469265" indent="-457200" algn="just">
              <a:spcBef>
                <a:spcPts val="600"/>
              </a:spcBef>
              <a:buClr>
                <a:srgbClr val="717BA2"/>
              </a:buClr>
              <a:buSzPct val="75000"/>
              <a:buAutoNum type="arabicPeriod"/>
              <a:tabLst>
                <a:tab pos="285115" algn="l"/>
                <a:tab pos="285750" algn="l"/>
              </a:tabLst>
            </a:pPr>
            <a:r>
              <a:rPr lang="fr-FR" sz="2000" spc="-110" dirty="0">
                <a:latin typeface="Trebuchet MS"/>
                <a:cs typeface="Trebuchet MS"/>
              </a:rPr>
              <a:t>Définir la fonction </a:t>
            </a:r>
            <a:r>
              <a:rPr lang="fr-FR" sz="2000" b="1" spc="-110" dirty="0">
                <a:latin typeface="Trebuchet MS"/>
                <a:cs typeface="Trebuchet MS"/>
              </a:rPr>
              <a:t>saisir() </a:t>
            </a:r>
            <a:r>
              <a:rPr lang="fr-FR" sz="2000" spc="-110" dirty="0">
                <a:latin typeface="Trebuchet MS"/>
                <a:cs typeface="Trebuchet MS"/>
              </a:rPr>
              <a:t>qui permet de remplir les données relatives aux candidats dans le fichier concours.txt.</a:t>
            </a:r>
          </a:p>
          <a:p>
            <a:pPr marL="469265" indent="-457200" algn="just">
              <a:spcBef>
                <a:spcPts val="600"/>
              </a:spcBef>
              <a:buClr>
                <a:srgbClr val="717BA2"/>
              </a:buClr>
              <a:buSzPct val="75000"/>
              <a:buAutoNum type="arabicPeriod"/>
              <a:tabLst>
                <a:tab pos="285115" algn="l"/>
                <a:tab pos="285750" algn="l"/>
              </a:tabLst>
            </a:pPr>
            <a:endParaRPr lang="fr-FR" sz="2000" spc="-110" dirty="0">
              <a:latin typeface="Trebuchet MS"/>
              <a:cs typeface="Trebuchet MS"/>
            </a:endParaRPr>
          </a:p>
          <a:p>
            <a:pPr marL="469265" indent="-457200" algn="just">
              <a:spcBef>
                <a:spcPts val="600"/>
              </a:spcBef>
              <a:buClr>
                <a:srgbClr val="717BA2"/>
              </a:buClr>
              <a:buSzPct val="75000"/>
              <a:buAutoNum type="arabicPeriod"/>
              <a:tabLst>
                <a:tab pos="285115" algn="l"/>
                <a:tab pos="285750" algn="l"/>
              </a:tabLst>
            </a:pPr>
            <a:r>
              <a:rPr lang="fr-FR" sz="2000" spc="-110" dirty="0">
                <a:latin typeface="Trebuchet MS"/>
                <a:cs typeface="Trebuchet MS"/>
              </a:rPr>
              <a:t>Définir la fonction </a:t>
            </a:r>
            <a:r>
              <a:rPr lang="fr-FR" sz="2000" b="1" spc="-110" dirty="0">
                <a:latin typeface="Trebuchet MS"/>
                <a:cs typeface="Trebuchet MS"/>
              </a:rPr>
              <a:t>admis() </a:t>
            </a:r>
            <a:r>
              <a:rPr lang="fr-FR" sz="2000" spc="-110" dirty="0">
                <a:latin typeface="Trebuchet MS"/>
                <a:cs typeface="Trebuchet MS"/>
              </a:rPr>
              <a:t>qui permet de créer le fichier </a:t>
            </a:r>
            <a:r>
              <a:rPr lang="fr-FR" sz="2000" spc="-110" dirty="0">
                <a:solidFill>
                  <a:srgbClr val="C00000"/>
                </a:solidFill>
                <a:latin typeface="Trebuchet MS"/>
                <a:cs typeface="Trebuchet MS"/>
              </a:rPr>
              <a:t>admis.txt</a:t>
            </a:r>
            <a:r>
              <a:rPr lang="fr-FR" sz="2000" spc="-110" dirty="0">
                <a:latin typeface="Trebuchet MS"/>
                <a:cs typeface="Trebuchet MS"/>
              </a:rPr>
              <a:t> comportant les données relatives aux candidats admis.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95986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3200" spc="-5" dirty="0"/>
              <a:t>Exercice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3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14016"/>
            <a:ext cx="8180705" cy="379078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85115" indent="-273050" algn="just">
              <a:spcBef>
                <a:spcPts val="600"/>
              </a:spcBef>
              <a:buClr>
                <a:srgbClr val="717BA2"/>
              </a:buClr>
              <a:buSzPct val="75000"/>
              <a:buFont typeface="Arial"/>
              <a:buChar char=""/>
              <a:tabLst>
                <a:tab pos="285115" algn="l"/>
                <a:tab pos="285750" algn="l"/>
              </a:tabLst>
            </a:pPr>
            <a:r>
              <a:rPr lang="fr-FR" sz="2000" b="1" u="sng" spc="-110" dirty="0">
                <a:latin typeface="Trebuchet MS"/>
                <a:cs typeface="Trebuchet MS"/>
              </a:rPr>
              <a:t>Travail demandé (suite):</a:t>
            </a:r>
          </a:p>
          <a:p>
            <a:pPr marL="285115" indent="-273050" algn="just">
              <a:spcBef>
                <a:spcPts val="600"/>
              </a:spcBef>
              <a:buClr>
                <a:srgbClr val="717BA2"/>
              </a:buClr>
              <a:buSzPct val="75000"/>
              <a:buFont typeface="Arial"/>
              <a:buChar char=""/>
              <a:tabLst>
                <a:tab pos="285115" algn="l"/>
                <a:tab pos="285750" algn="l"/>
              </a:tabLst>
            </a:pPr>
            <a:endParaRPr lang="fr-FR" sz="2000" spc="-110" dirty="0">
              <a:latin typeface="Trebuchet MS"/>
              <a:cs typeface="Trebuchet MS"/>
            </a:endParaRPr>
          </a:p>
          <a:p>
            <a:pPr marL="469265" indent="-457200" algn="just">
              <a:spcBef>
                <a:spcPts val="600"/>
              </a:spcBef>
              <a:buClr>
                <a:srgbClr val="717BA2"/>
              </a:buClr>
              <a:buSzPct val="75000"/>
              <a:buAutoNum type="arabicPeriod" startAt="3"/>
              <a:tabLst>
                <a:tab pos="285115" algn="l"/>
                <a:tab pos="285750" algn="l"/>
              </a:tabLst>
            </a:pPr>
            <a:r>
              <a:rPr lang="fr-FR" sz="2000" spc="-110" dirty="0">
                <a:latin typeface="Trebuchet MS"/>
                <a:cs typeface="Trebuchet MS"/>
              </a:rPr>
              <a:t>Afin de sélectionner en priorité les candidats admis et âgés moins de 30 ans, créer la fonction </a:t>
            </a:r>
            <a:r>
              <a:rPr lang="fr-FR" sz="2000" b="1" spc="-110" dirty="0">
                <a:latin typeface="Trebuchet MS"/>
                <a:cs typeface="Trebuchet MS"/>
              </a:rPr>
              <a:t>attente() </a:t>
            </a:r>
            <a:r>
              <a:rPr lang="fr-FR" sz="2000" spc="-110" dirty="0">
                <a:latin typeface="Trebuchet MS"/>
                <a:cs typeface="Trebuchet MS"/>
              </a:rPr>
              <a:t>qui produira à partir du fichier </a:t>
            </a:r>
            <a:r>
              <a:rPr lang="fr-FR" sz="2000" b="1" spc="-110" dirty="0">
                <a:latin typeface="Trebuchet MS"/>
                <a:cs typeface="Trebuchet MS"/>
              </a:rPr>
              <a:t>admis.txt</a:t>
            </a:r>
            <a:r>
              <a:rPr lang="fr-FR" sz="2000" spc="-110" dirty="0">
                <a:latin typeface="Trebuchet MS"/>
                <a:cs typeface="Trebuchet MS"/>
              </a:rPr>
              <a:t>, un nouveau fichier intitulé</a:t>
            </a:r>
            <a:r>
              <a:rPr lang="fr-FR" sz="2000" spc="-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lang="fr-FR" sz="2000" b="1" spc="-110" dirty="0">
                <a:solidFill>
                  <a:srgbClr val="C00000"/>
                </a:solidFill>
                <a:latin typeface="Trebuchet MS"/>
                <a:cs typeface="Trebuchet MS"/>
              </a:rPr>
              <a:t>attente.txt</a:t>
            </a:r>
            <a:r>
              <a:rPr lang="fr-FR" sz="2000" spc="-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lang="fr-FR" sz="2000" spc="-110" dirty="0">
                <a:latin typeface="Trebuchet MS"/>
                <a:cs typeface="Trebuchet MS"/>
              </a:rPr>
              <a:t>comportant les données relatives aux candidats admis et âgés plus que 30 ans. Une ligne du fichier </a:t>
            </a:r>
            <a:r>
              <a:rPr lang="fr-FR" sz="2000" b="1" spc="-110" dirty="0">
                <a:latin typeface="Trebuchet MS"/>
                <a:cs typeface="Trebuchet MS"/>
              </a:rPr>
              <a:t>attente.txt</a:t>
            </a:r>
            <a:r>
              <a:rPr lang="fr-FR" sz="2000" spc="-110" dirty="0">
                <a:latin typeface="Trebuchet MS"/>
                <a:cs typeface="Trebuchet MS"/>
              </a:rPr>
              <a:t> comprend le </a:t>
            </a:r>
            <a:r>
              <a:rPr lang="fr-FR" sz="2000" i="1" spc="-110" dirty="0">
                <a:solidFill>
                  <a:srgbClr val="717BA2"/>
                </a:solidFill>
                <a:latin typeface="Trebuchet MS"/>
                <a:cs typeface="Trebuchet MS"/>
              </a:rPr>
              <a:t>NCIN</a:t>
            </a:r>
            <a:r>
              <a:rPr lang="fr-FR" sz="2000" spc="-110" dirty="0">
                <a:latin typeface="Trebuchet MS"/>
                <a:cs typeface="Trebuchet MS"/>
              </a:rPr>
              <a:t>, le </a:t>
            </a:r>
            <a:r>
              <a:rPr lang="fr-FR" sz="2000" i="1" spc="-110" dirty="0">
                <a:solidFill>
                  <a:srgbClr val="717BA2"/>
                </a:solidFill>
                <a:latin typeface="Trebuchet MS"/>
                <a:cs typeface="Trebuchet MS"/>
              </a:rPr>
              <a:t>NOM</a:t>
            </a:r>
            <a:r>
              <a:rPr lang="fr-FR" sz="2000" spc="-110" dirty="0">
                <a:latin typeface="Trebuchet MS"/>
                <a:cs typeface="Trebuchet MS"/>
              </a:rPr>
              <a:t> et </a:t>
            </a:r>
            <a:r>
              <a:rPr lang="fr-FR" sz="2000" i="1" spc="-110" dirty="0">
                <a:solidFill>
                  <a:srgbClr val="717BA2"/>
                </a:solidFill>
                <a:latin typeface="Trebuchet MS"/>
                <a:cs typeface="Trebuchet MS"/>
              </a:rPr>
              <a:t>PRENOM</a:t>
            </a:r>
            <a:r>
              <a:rPr lang="fr-FR" sz="2000" spc="-110" dirty="0">
                <a:latin typeface="Trebuchet MS"/>
                <a:cs typeface="Trebuchet MS"/>
              </a:rPr>
              <a:t> d’un candidat séparés par point virgule (;). </a:t>
            </a:r>
          </a:p>
          <a:p>
            <a:pPr marL="469265" indent="-457200" algn="just">
              <a:spcBef>
                <a:spcPts val="600"/>
              </a:spcBef>
              <a:buClr>
                <a:srgbClr val="717BA2"/>
              </a:buClr>
              <a:buSzPct val="75000"/>
              <a:buAutoNum type="arabicPeriod" startAt="3"/>
              <a:tabLst>
                <a:tab pos="285115" algn="l"/>
                <a:tab pos="285750" algn="l"/>
              </a:tabLst>
            </a:pPr>
            <a:endParaRPr lang="fr-FR" sz="2000" spc="-110" dirty="0">
              <a:latin typeface="Trebuchet MS"/>
              <a:cs typeface="Trebuchet MS"/>
            </a:endParaRPr>
          </a:p>
          <a:p>
            <a:pPr marL="469265" indent="-457200" algn="just">
              <a:spcBef>
                <a:spcPts val="600"/>
              </a:spcBef>
              <a:buClr>
                <a:srgbClr val="717BA2"/>
              </a:buClr>
              <a:buSzPct val="75000"/>
              <a:buAutoNum type="arabicPeriod" startAt="3"/>
              <a:tabLst>
                <a:tab pos="285115" algn="l"/>
                <a:tab pos="285750" algn="l"/>
              </a:tabLst>
            </a:pPr>
            <a:r>
              <a:rPr lang="fr-FR" sz="2000" spc="-110" dirty="0">
                <a:latin typeface="Trebuchet MS"/>
                <a:cs typeface="Trebuchet MS"/>
              </a:rPr>
              <a:t>Définir la fonction </a:t>
            </a:r>
            <a:r>
              <a:rPr lang="fr-FR" sz="2000" b="1" spc="-110" dirty="0">
                <a:latin typeface="Trebuchet MS"/>
                <a:cs typeface="Trebuchet MS"/>
              </a:rPr>
              <a:t>supprimer() </a:t>
            </a:r>
            <a:r>
              <a:rPr lang="fr-FR" sz="2000" spc="-110" dirty="0">
                <a:latin typeface="Trebuchet MS"/>
                <a:cs typeface="Trebuchet MS"/>
              </a:rPr>
              <a:t>qui supprimera du fichier admis.txt les candidats âgés plus que 30 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182" y="2619882"/>
            <a:ext cx="739584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363" marR="5080" indent="-360363" algn="ctr">
              <a:lnSpc>
                <a:spcPct val="100000"/>
              </a:lnSpc>
              <a:spcBef>
                <a:spcPts val="95"/>
              </a:spcBef>
            </a:pPr>
            <a:r>
              <a:rPr lang="fr-FR" sz="4000" spc="-10" dirty="0">
                <a:solidFill>
                  <a:srgbClr val="006FC0"/>
                </a:solidFill>
              </a:rPr>
              <a:t>Correction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4</a:t>
            </a:fld>
            <a:endParaRPr spc="-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95986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3200" spc="-5" dirty="0"/>
              <a:t>Correction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5</a:t>
            </a:fld>
            <a:endParaRPr spc="-35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" y="1524000"/>
            <a:ext cx="85725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95986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3200" spc="-5" dirty="0"/>
              <a:t>Correction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6</a:t>
            </a:fld>
            <a:endParaRPr spc="-35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1828800"/>
            <a:ext cx="6046317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95986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3200" spc="-5" dirty="0"/>
              <a:t>Correction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7</a:t>
            </a:fld>
            <a:endParaRPr spc="-35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752600"/>
            <a:ext cx="7120282" cy="290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95986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3200" spc="-5" dirty="0"/>
              <a:t>Correction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35" dirty="0"/>
              <a:pPr marL="38100">
                <a:lnSpc>
                  <a:spcPct val="100000"/>
                </a:lnSpc>
                <a:spcBef>
                  <a:spcPts val="5"/>
                </a:spcBef>
              </a:pPr>
              <a:t>8</a:t>
            </a:fld>
            <a:endParaRPr spc="-35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600200"/>
            <a:ext cx="7618472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465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34970</TotalTime>
  <Words>306</Words>
  <Application>Microsoft Office PowerPoint</Application>
  <PresentationFormat>On-screen Show (4:3)</PresentationFormat>
  <Paragraphs>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TeX Gyre Bonum</vt:lpstr>
      <vt:lpstr>Trebuchet MS</vt:lpstr>
      <vt:lpstr>Office Theme</vt:lpstr>
      <vt:lpstr>Exercice </vt:lpstr>
      <vt:lpstr>Exercice</vt:lpstr>
      <vt:lpstr>Exercice</vt:lpstr>
      <vt:lpstr>Correction</vt:lpstr>
      <vt:lpstr>Correction</vt:lpstr>
      <vt:lpstr>Correction</vt:lpstr>
      <vt:lpstr>Correction</vt:lpstr>
      <vt:lpstr>Correction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SGBD : Administration des bases de données</dc:title>
  <dc:creator>Samya</dc:creator>
  <cp:lastModifiedBy>Marwa</cp:lastModifiedBy>
  <cp:revision>198</cp:revision>
  <dcterms:created xsi:type="dcterms:W3CDTF">2020-12-15T10:48:38Z</dcterms:created>
  <dcterms:modified xsi:type="dcterms:W3CDTF">2022-12-24T07:25:54Z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2020-11-05T00:00:00Z</vt:filetime>
  </property>
  <property fmtid="{D5CDD505-2E9C-101B-9397-08002B2CF9AE}" pid="3" name="Creator">
    <vt:lpwstr>Microsoft® PowerPoint® 2013</vt:lpwstr>
  </property>
  <property fmtid="{D5CDD505-2E9C-101B-9397-08002B2CF9AE}" pid="4" name="LastSaved">
    <vt:filetime>2020-12-15T00:00:00Z</vt:filetime>
  </property>
</Properties>
</file>